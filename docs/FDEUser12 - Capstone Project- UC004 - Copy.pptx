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sldIdLst>
    <p:sldId id="263" r:id="rId2"/>
    <p:sldId id="261" r:id="rId3"/>
    <p:sldId id="262"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84767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264461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57150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19553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E03378-D873-40F2-A1BF-02A9DA7E252E}"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147404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12335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251513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841959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39999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E03378-D873-40F2-A1BF-02A9DA7E252E}"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402875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4025294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95233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2801183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48275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78085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1639244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E03378-D873-40F2-A1BF-02A9DA7E252E}"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5E8339-D081-4FF4-9743-D2FEEA909F35}" type="slidenum">
              <a:rPr lang="en-US" smtClean="0"/>
              <a:t>‹#›</a:t>
            </a:fld>
            <a:endParaRPr lang="en-US"/>
          </a:p>
        </p:txBody>
      </p:sp>
    </p:spTree>
    <p:extLst>
      <p:ext uri="{BB962C8B-B14F-4D97-AF65-F5344CB8AC3E}">
        <p14:creationId xmlns:p14="http://schemas.microsoft.com/office/powerpoint/2010/main" val="3169866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5E03378-D873-40F2-A1BF-02A9DA7E252E}" type="datetimeFigureOut">
              <a:rPr lang="en-US" smtClean="0"/>
              <a:t>10/27/2026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25E8339-D081-4FF4-9743-D2FEEA909F35}" type="slidenum">
              <a:rPr lang="en-US" smtClean="0"/>
              <a:t>‹#›</a:t>
            </a:fld>
            <a:endParaRPr lang="en-US"/>
          </a:p>
        </p:txBody>
      </p:sp>
    </p:spTree>
    <p:extLst>
      <p:ext uri="{BB962C8B-B14F-4D97-AF65-F5344CB8AC3E}">
        <p14:creationId xmlns:p14="http://schemas.microsoft.com/office/powerpoint/2010/main" val="2897916719"/>
      </p:ext>
    </p:extLst>
  </p:cSld>
  <p:clrMap bg1="dk1" tx1="lt1" bg2="dk2" tx2="lt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FD99-7EC5-0842-8869-6B142FD5726B}"/>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AFB83E15-48AA-A574-CC6E-2EF5827243C3}"/>
              </a:ext>
            </a:extLst>
          </p:cNvPr>
          <p:cNvPicPr>
            <a:picLocks noChangeAspect="1"/>
          </p:cNvPicPr>
          <p:nvPr/>
        </p:nvPicPr>
        <p:blipFill>
          <a:blip r:embed="rId2"/>
          <a:stretch>
            <a:fillRect/>
          </a:stretch>
        </p:blipFill>
        <p:spPr>
          <a:xfrm>
            <a:off x="433572" y="0"/>
            <a:ext cx="10287000" cy="6858000"/>
          </a:xfrm>
          <a:prstGeom prst="rect">
            <a:avLst/>
          </a:prstGeom>
        </p:spPr>
      </p:pic>
    </p:spTree>
    <p:extLst>
      <p:ext uri="{BB962C8B-B14F-4D97-AF65-F5344CB8AC3E}">
        <p14:creationId xmlns:p14="http://schemas.microsoft.com/office/powerpoint/2010/main" val="722003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1460-EF10-6092-D40F-529068543F1E}"/>
              </a:ext>
            </a:extLst>
          </p:cNvPr>
          <p:cNvSpPr>
            <a:spLocks noGrp="1"/>
          </p:cNvSpPr>
          <p:nvPr>
            <p:ph type="title"/>
          </p:nvPr>
        </p:nvSpPr>
        <p:spPr/>
        <p:txBody>
          <a:bodyPr/>
          <a:lstStyle/>
          <a:p>
            <a:r>
              <a:rPr lang="en-US" dirty="0"/>
              <a:t>Production Backlog</a:t>
            </a:r>
          </a:p>
        </p:txBody>
      </p:sp>
      <p:sp>
        <p:nvSpPr>
          <p:cNvPr id="3" name="Content Placeholder 2">
            <a:extLst>
              <a:ext uri="{FF2B5EF4-FFF2-40B4-BE49-F238E27FC236}">
                <a16:creationId xmlns:a16="http://schemas.microsoft.com/office/drawing/2014/main" id="{859843B8-4F10-875C-63FE-F97CA96B74FD}"/>
              </a:ext>
            </a:extLst>
          </p:cNvPr>
          <p:cNvSpPr>
            <a:spLocks noGrp="1"/>
          </p:cNvSpPr>
          <p:nvPr>
            <p:ph idx="1"/>
          </p:nvPr>
        </p:nvSpPr>
        <p:spPr>
          <a:xfrm>
            <a:off x="342900" y="2052918"/>
            <a:ext cx="11020425" cy="4527764"/>
          </a:xfrm>
        </p:spPr>
        <p:txBody>
          <a:bodyPr>
            <a:normAutofit fontScale="55000" lnSpcReduction="20000"/>
          </a:bodyPr>
          <a:lstStyle/>
          <a:p>
            <a:r>
              <a:rPr lang="en-US" b="1" dirty="0"/>
              <a:t>Regex PHI detection is not exhaustive</a:t>
            </a:r>
            <a:r>
              <a:rPr lang="en-US" dirty="0"/>
              <a:t>. Use Azure AI Language PII detection (</a:t>
            </a:r>
            <a:r>
              <a:rPr lang="en-US" dirty="0" err="1"/>
              <a:t>PiiEntityCategory</a:t>
            </a:r>
            <a:r>
              <a:rPr lang="en-US" dirty="0"/>
              <a:t> for health data) or Presidio before go-live.</a:t>
            </a:r>
          </a:p>
          <a:p>
            <a:r>
              <a:rPr lang="en-US" b="1" dirty="0"/>
              <a:t>Prompt Shields sees retrieved documents only after the agent has read them</a:t>
            </a:r>
            <a:r>
              <a:rPr lang="en-US" dirty="0"/>
              <a:t>. A document attack is caught before release, not before the model. It also only sees what </a:t>
            </a:r>
            <a:r>
              <a:rPr lang="en-US" dirty="0" err="1"/>
              <a:t>ask_agent</a:t>
            </a:r>
            <a:r>
              <a:rPr lang="en-US" dirty="0"/>
              <a:t> captures in _context; when the knowledge base returns an </a:t>
            </a:r>
            <a:r>
              <a:rPr lang="en-US" dirty="0" err="1"/>
              <a:t>answerSynthesis</a:t>
            </a:r>
            <a:r>
              <a:rPr lang="en-US" dirty="0"/>
              <a:t> summary with no passages there is nothing to scan. Close both gaps by also enabling the indirect-attack (document) Prompt Shield in the Foundry guardrail on the agent's model deployment, and by scanning the base corpus container at ingestion as the sandbox sync does.</a:t>
            </a:r>
          </a:p>
          <a:p>
            <a:r>
              <a:rPr lang="en-US" b="1" dirty="0"/>
              <a:t>The reviewer console has no authentication</a:t>
            </a:r>
            <a:r>
              <a:rPr lang="en-US" dirty="0"/>
              <a:t>. Put it behind Entra ID (Easy Auth or App Service). Take the reviewer identity from the token rather than a text box, and restrict access to a clinician group.</a:t>
            </a:r>
          </a:p>
          <a:p>
            <a:r>
              <a:rPr lang="en-US" b="1" dirty="0"/>
              <a:t>The router is regex-based, and paraphrases get past it.</a:t>
            </a:r>
            <a:r>
              <a:rPr lang="en-US" dirty="0"/>
              <a:t> Measured: python router_review.py --questions </a:t>
            </a:r>
            <a:r>
              <a:rPr lang="en-US" dirty="0" err="1"/>
              <a:t>questions.jsonl</a:t>
            </a:r>
            <a:r>
              <a:rPr lang="en-US" dirty="0"/>
              <a:t> extensions/router-</a:t>
            </a:r>
            <a:r>
              <a:rPr lang="en-US" dirty="0" err="1"/>
              <a:t>paraphrases.jsonl</a:t>
            </a:r>
            <a:r>
              <a:rPr lang="en-US" dirty="0"/>
              <a:t> catches all 4 base deferral questions but 0 of 12 clinician-style paraphrases ("the gentleman next to the window has gone grey"). One of them ("the man I'm looking after just had a fit, who do I call?") routes as administrative, which can release a Moderate-confidence answer; the rest route as clinical. Misses still reach the agent's deferral rules and the clinical-route High-confidence rule, but they are queued as routine instead of urgent. Before go-live, clinicians review _ACUTE_PATTERNS with python router_review.py. That worksheet lists held items that the reviewer flagged as "router missed", that the agent deferred, or that the requester marked urgent, and replays the current patterns over every stored question. Clinicians approve new patterns, the cases go into extensions/router-</a:t>
            </a:r>
            <a:r>
              <a:rPr lang="en-US" dirty="0" err="1"/>
              <a:t>paraphrases.JSONL</a:t>
            </a:r>
            <a:r>
              <a:rPr lang="en-US" dirty="0"/>
              <a:t>, and the unit tests and step4_evaluate.py --pipeline confirm that no answerable question becomes acute. The review only covers held items, because released questions are not logged with their text.</a:t>
            </a:r>
          </a:p>
          <a:p>
            <a:r>
              <a:rPr lang="en-US" b="1" dirty="0"/>
              <a:t>The audit log is a local file.</a:t>
            </a:r>
            <a:r>
              <a:rPr lang="en-US" dirty="0"/>
              <a:t> Ship it to Log Analytics or immutable storage with retention set by policy.</a:t>
            </a:r>
          </a:p>
          <a:p>
            <a:r>
              <a:rPr lang="en-US" b="1" dirty="0"/>
              <a:t>Grant least-privilege RBAC</a:t>
            </a:r>
            <a:r>
              <a:rPr lang="en-US" dirty="0"/>
              <a:t>.</a:t>
            </a:r>
          </a:p>
          <a:p>
            <a:pPr lvl="1"/>
            <a:r>
              <a:rPr lang="en-US" dirty="0"/>
              <a:t>Agent identity: Search Index Data Reader only.</a:t>
            </a:r>
          </a:p>
          <a:p>
            <a:pPr lvl="1"/>
            <a:r>
              <a:rPr lang="en-US" dirty="0"/>
              <a:t>Reviewers: Storage Table Data Contributor on the review table only.</a:t>
            </a:r>
          </a:p>
          <a:p>
            <a:r>
              <a:rPr lang="en-US" b="1" dirty="0"/>
              <a:t>Fairness is measured on one sample per question</a:t>
            </a:r>
            <a:r>
              <a:rPr lang="en-US" dirty="0"/>
              <a:t>. LLM output varies run to run, so a single disparity may be noise; re-run flagged pairs (and ideally run each pair several times) before concluding bias. Age is not paired: it is a clinical distinction in this corpus (CHS-PATH-010 is adults only) and an acute router signal. Extend the pairs with real question logs and intersectional cases before go-live.</a:t>
            </a:r>
          </a:p>
          <a:p>
            <a:endParaRPr lang="en-US" dirty="0"/>
          </a:p>
        </p:txBody>
      </p:sp>
    </p:spTree>
    <p:extLst>
      <p:ext uri="{BB962C8B-B14F-4D97-AF65-F5344CB8AC3E}">
        <p14:creationId xmlns:p14="http://schemas.microsoft.com/office/powerpoint/2010/main" val="73033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954B1-0DD9-BBF4-8217-30C2F8A971A2}"/>
              </a:ext>
            </a:extLst>
          </p:cNvPr>
          <p:cNvSpPr>
            <a:spLocks noGrp="1"/>
          </p:cNvSpPr>
          <p:nvPr>
            <p:ph type="title"/>
          </p:nvPr>
        </p:nvSpPr>
        <p:spPr>
          <a:xfrm>
            <a:off x="646111" y="59018"/>
            <a:ext cx="9404723" cy="1400530"/>
          </a:xfrm>
        </p:spPr>
        <p:txBody>
          <a:bodyPr/>
          <a:lstStyle/>
          <a:p>
            <a:r>
              <a:rPr lang="en-US" dirty="0"/>
              <a:t>Test Case Execution</a:t>
            </a:r>
          </a:p>
        </p:txBody>
      </p:sp>
      <p:pic>
        <p:nvPicPr>
          <p:cNvPr id="10" name="Picture 9">
            <a:extLst>
              <a:ext uri="{FF2B5EF4-FFF2-40B4-BE49-F238E27FC236}">
                <a16:creationId xmlns:a16="http://schemas.microsoft.com/office/drawing/2014/main" id="{EC584AD5-1003-912F-B12B-C338182753AC}"/>
              </a:ext>
            </a:extLst>
          </p:cNvPr>
          <p:cNvPicPr>
            <a:picLocks noChangeAspect="1"/>
          </p:cNvPicPr>
          <p:nvPr/>
        </p:nvPicPr>
        <p:blipFill>
          <a:blip r:embed="rId2"/>
          <a:stretch>
            <a:fillRect/>
          </a:stretch>
        </p:blipFill>
        <p:spPr>
          <a:xfrm>
            <a:off x="0" y="924348"/>
            <a:ext cx="12192000" cy="5933652"/>
          </a:xfrm>
          <a:prstGeom prst="rect">
            <a:avLst/>
          </a:prstGeom>
        </p:spPr>
      </p:pic>
    </p:spTree>
    <p:extLst>
      <p:ext uri="{BB962C8B-B14F-4D97-AF65-F5344CB8AC3E}">
        <p14:creationId xmlns:p14="http://schemas.microsoft.com/office/powerpoint/2010/main" val="28593991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109</TotalTime>
  <Words>504</Words>
  <Application>Microsoft Office PowerPoint</Application>
  <PresentationFormat>Widescreen</PresentationFormat>
  <Paragraphs>11</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Century Gothic</vt:lpstr>
      <vt:lpstr>Wingdings 3</vt:lpstr>
      <vt:lpstr>Ion</vt:lpstr>
      <vt:lpstr>PowerPoint Presentation</vt:lpstr>
      <vt:lpstr>Production Backlog</vt:lpstr>
      <vt:lpstr>Test Case Execution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Lawrence</dc:creator>
  <cp:lastModifiedBy>Ajay Lawrence</cp:lastModifiedBy>
  <cp:revision>4</cp:revision>
  <dcterms:created xsi:type="dcterms:W3CDTF">2026-10-26T18:48:37Z</dcterms:created>
  <dcterms:modified xsi:type="dcterms:W3CDTF">2026-10-26T20:44:21Z</dcterms:modified>
</cp:coreProperties>
</file>